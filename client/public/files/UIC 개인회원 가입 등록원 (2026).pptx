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8999538"/>
  <p:notesSz cx="6858000" cy="9144000"/>
  <p:embeddedFontLst>
    <p:embeddedFont>
      <p:font typeface="나눔스퀘어OTF_ac Bold" panose="020B0600000101010101" pitchFamily="34" charset="-127"/>
      <p:bold r:id="rId6"/>
    </p:embeddedFont>
    <p:embeddedFont>
      <p:font typeface="나눔스퀘어OTF_ac ExtraBold" panose="020B0600000101010101" pitchFamily="34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C9754-BD9E-4BE9-92D6-EA1B2D8C3EC3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1027A-ED58-4B52-8E20-E93A5F0873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02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57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78AC-DA96-E418-8BC6-8CDCADDA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C0A8CF-66DC-E3EE-38A4-7002029A8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8195AC-BEE9-18A1-45C7-489B7336B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ABF9BB-2DAC-DD73-2183-85C0C052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970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DB50E-1634-AA90-AA16-23695870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3CAF9A-DE52-E252-0000-35773DE5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9C7E8B-478B-3015-F315-D83506936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D0A5FA-1055-637F-96C5-E08436559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8A430-3A14-447E-B8BC-3452FDBFE34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089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72842"/>
            <a:ext cx="5829300" cy="313317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726842"/>
            <a:ext cx="5143500" cy="217280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2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42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43638"/>
            <a:ext cx="5915025" cy="374355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022610"/>
            <a:ext cx="5915025" cy="196864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95710"/>
            <a:ext cx="291465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95710"/>
            <a:ext cx="291465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24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79144"/>
            <a:ext cx="5915025" cy="17394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06137"/>
            <a:ext cx="2901255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287331"/>
            <a:ext cx="2901255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06137"/>
            <a:ext cx="2915543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287331"/>
            <a:ext cx="2915543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73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45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66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95769"/>
            <a:ext cx="3471863" cy="639550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12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95769"/>
            <a:ext cx="3471863" cy="639550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15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55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79142"/>
            <a:ext cx="1478756" cy="762669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79142"/>
            <a:ext cx="4350544" cy="762669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43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79144"/>
            <a:ext cx="5915025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95710"/>
            <a:ext cx="5915025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3EE09-BC31-4801-90BE-1E34E8C1AE3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341240"/>
            <a:ext cx="231457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48C7-922C-4D5C-8E94-56E7B186A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54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B57B9F-18E8-6B4E-913A-E877A1DA4030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AAF78-586A-39BD-02DE-4F75BD17A9BF}"/>
              </a:ext>
            </a:extLst>
          </p:cNvPr>
          <p:cNvSpPr txBox="1"/>
          <p:nvPr/>
        </p:nvSpPr>
        <p:spPr>
          <a:xfrm>
            <a:off x="879088" y="2033199"/>
            <a:ext cx="5099824" cy="10310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전국 대학생 투자동아리 연합회</a:t>
            </a:r>
            <a:endParaRPr lang="en-US" altLang="ko-KR" sz="28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endParaRPr lang="en-US" altLang="ko-KR" sz="5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  <a:p>
            <a:pPr algn="ctr"/>
            <a:r>
              <a:rPr lang="ko-KR" altLang="en-US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8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[UIC]</a:t>
            </a:r>
            <a:endParaRPr lang="ko-KR" altLang="en-US" sz="28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B0163-803D-1508-DB76-921A3280A6C8}"/>
              </a:ext>
            </a:extLst>
          </p:cNvPr>
          <p:cNvSpPr txBox="1"/>
          <p:nvPr/>
        </p:nvSpPr>
        <p:spPr>
          <a:xfrm>
            <a:off x="879088" y="4038103"/>
            <a:ext cx="50998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 </a:t>
            </a:r>
            <a:r>
              <a:rPr lang="ko-KR" altLang="en-US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개인회원 가입 </a:t>
            </a:r>
            <a:r>
              <a:rPr lang="ko-KR" altLang="en-US" sz="24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등록원</a:t>
            </a:r>
            <a:r>
              <a:rPr lang="ko-KR" altLang="en-US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4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&gt;</a:t>
            </a:r>
            <a:endParaRPr lang="ko-KR" altLang="en-US" sz="24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6AA1D8-F792-5636-74D0-9F4A0EF1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986" y="7908820"/>
            <a:ext cx="660131" cy="385177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6F125B-B563-19B5-3044-E9A3A5B15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10414"/>
              </p:ext>
            </p:extLst>
          </p:nvPr>
        </p:nvGraphicFramePr>
        <p:xfrm>
          <a:off x="1589513" y="5824873"/>
          <a:ext cx="367897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399">
                  <a:extLst>
                    <a:ext uri="{9D8B030D-6E8A-4147-A177-3AD203B41FA5}">
                      <a16:colId xmlns:a16="http://schemas.microsoft.com/office/drawing/2014/main" val="2782391600"/>
                    </a:ext>
                  </a:extLst>
                </a:gridCol>
                <a:gridCol w="2176575">
                  <a:extLst>
                    <a:ext uri="{9D8B030D-6E8A-4147-A177-3AD203B41FA5}">
                      <a16:colId xmlns:a16="http://schemas.microsoft.com/office/drawing/2014/main" val="2549038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</a:t>
                      </a:r>
                      <a:r>
                        <a:rPr lang="en-US" altLang="ko-KR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 </a:t>
                      </a:r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교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대학교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33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이  </a:t>
                      </a:r>
                      <a:r>
                        <a:rPr lang="ko-KR" altLang="en-US" sz="14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름</a:t>
                      </a:r>
                      <a:endParaRPr lang="ko-KR" altLang="en-US" sz="14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75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H.P</a:t>
                      </a:r>
                      <a:endParaRPr lang="ko-KR" altLang="en-US" sz="14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OOO-OOOO-OOOO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391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E-mail</a:t>
                      </a:r>
                      <a:endParaRPr lang="ko-KR" altLang="en-US" sz="14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06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7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C9BC-7931-6E0A-A9E0-39E013A3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407A12-1575-45B4-4AF7-D420856991BD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6BBD25A-3B4C-0035-EA37-457E4BAEB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3478"/>
              </p:ext>
            </p:extLst>
          </p:nvPr>
        </p:nvGraphicFramePr>
        <p:xfrm>
          <a:off x="585441" y="537676"/>
          <a:ext cx="5687120" cy="7931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424">
                  <a:extLst>
                    <a:ext uri="{9D8B030D-6E8A-4147-A177-3AD203B41FA5}">
                      <a16:colId xmlns:a16="http://schemas.microsoft.com/office/drawing/2014/main" val="2078753959"/>
                    </a:ext>
                  </a:extLst>
                </a:gridCol>
                <a:gridCol w="728675">
                  <a:extLst>
                    <a:ext uri="{9D8B030D-6E8A-4147-A177-3AD203B41FA5}">
                      <a16:colId xmlns:a16="http://schemas.microsoft.com/office/drawing/2014/main" val="3732638107"/>
                    </a:ext>
                  </a:extLst>
                </a:gridCol>
                <a:gridCol w="1546173">
                  <a:extLst>
                    <a:ext uri="{9D8B030D-6E8A-4147-A177-3AD203B41FA5}">
                      <a16:colId xmlns:a16="http://schemas.microsoft.com/office/drawing/2014/main" val="2815640641"/>
                    </a:ext>
                  </a:extLst>
                </a:gridCol>
                <a:gridCol w="929013">
                  <a:extLst>
                    <a:ext uri="{9D8B030D-6E8A-4147-A177-3AD203B41FA5}">
                      <a16:colId xmlns:a16="http://schemas.microsoft.com/office/drawing/2014/main" val="2440996874"/>
                    </a:ext>
                  </a:extLst>
                </a:gridCol>
                <a:gridCol w="1345835">
                  <a:extLst>
                    <a:ext uri="{9D8B030D-6E8A-4147-A177-3AD203B41FA5}">
                      <a16:colId xmlns:a16="http://schemas.microsoft.com/office/drawing/2014/main" val="3211984523"/>
                    </a:ext>
                  </a:extLst>
                </a:gridCol>
              </a:tblGrid>
              <a:tr h="57454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개인회원 가입 지원 신청서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27852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&lt;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사진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&gt;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성 명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생년월일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OOOOOO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028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대학명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대학교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305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 과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학과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학년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/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학년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/ O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학기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2262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휴대전화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OOO-OOOO-OOO</a:t>
                      </a:r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E-mail</a:t>
                      </a:r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66587"/>
                  </a:ext>
                </a:extLst>
              </a:tr>
              <a:tr h="5874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자기 소개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endParaRPr lang="en-US" altLang="ko-KR" sz="5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및</a:t>
                      </a: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endParaRPr lang="en-US" altLang="ko-KR" sz="5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지원 동기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just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674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17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24052-B9E3-A540-F521-73E1B1DA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>
            <a:extLst>
              <a:ext uri="{FF2B5EF4-FFF2-40B4-BE49-F238E27FC236}">
                <a16:creationId xmlns:a16="http://schemas.microsoft.com/office/drawing/2014/main" id="{7CC918C1-5A96-2E73-5585-200FBD8DA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198" y="7178472"/>
            <a:ext cx="763875" cy="68042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9920C05-2932-2D06-4B26-33A4E43E3C5B}"/>
              </a:ext>
            </a:extLst>
          </p:cNvPr>
          <p:cNvSpPr/>
          <p:nvPr/>
        </p:nvSpPr>
        <p:spPr>
          <a:xfrm>
            <a:off x="585439" y="532596"/>
            <a:ext cx="5687122" cy="793434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83FF389-7D2E-C14D-B780-8EFFD0729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932113"/>
              </p:ext>
            </p:extLst>
          </p:nvPr>
        </p:nvGraphicFramePr>
        <p:xfrm>
          <a:off x="585441" y="532596"/>
          <a:ext cx="5687120" cy="79357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7120">
                  <a:extLst>
                    <a:ext uri="{9D8B030D-6E8A-4147-A177-3AD203B41FA5}">
                      <a16:colId xmlns:a16="http://schemas.microsoft.com/office/drawing/2014/main" val="3818624655"/>
                    </a:ext>
                  </a:extLst>
                </a:gridCol>
              </a:tblGrid>
              <a:tr h="5850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_ac ExtraBold" panose="020B0600000101010101" pitchFamily="34" charset="-127"/>
                          <a:ea typeface="나눔스퀘어OTF_ac ExtraBold" panose="020B0600000101010101" pitchFamily="34" charset="-127"/>
                        </a:rPr>
                        <a:t>안 내 사 항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48418"/>
                  </a:ext>
                </a:extLst>
              </a:tr>
              <a:tr h="2496820"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eriod"/>
                      </a:pPr>
                      <a:endParaRPr lang="en-US" altLang="ko-KR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본 연합회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이하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‘UIC’)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의 회비는 한 학기당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만 원이다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에서 제공하는 세미나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포럼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심포지엄 등의 학술적 프로그램은 반기 기준 정기총회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 이상 참석한 회원에 한하여 제공한다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금융 자격증 외 기타 동영상 강의 및 자격증 취득 지원 프로그램은 반기 기준 정기총회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 이상 참석한 회원에 한하여 제공한다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indent="-228600" algn="l" latinLnBrk="1">
                        <a:buAutoNum type="arabicPeriod"/>
                      </a:pP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탈퇴를 원할 경우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탈퇴 사유를 작성하여 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UIC </a:t>
                      </a: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측에 제출해야 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228600" indent="-228600" algn="l" latinLnBrk="1">
                        <a:buAutoNum type="arabicPeriod"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  <a:p>
                      <a:pPr marL="228600" marR="0" lvl="0" indent="-22860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위 개인회원 가입 등록원의 허위 기재 적발 시 즉시 탈퇴 처리된다</a:t>
                      </a:r>
                      <a:r>
                        <a:rPr lang="en-US" altLang="ko-KR" sz="11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69935"/>
                  </a:ext>
                </a:extLst>
              </a:tr>
              <a:tr h="304673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본 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회원은 전국 대학생 투자동아리 연합회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(UIC)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의 </a:t>
                      </a:r>
                      <a:r>
                        <a:rPr lang="ko-KR" altLang="en-US" sz="1200" dirty="0" err="1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개인회원로서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연합회 회칙을 준수하며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본 회의 설립 취지와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 </a:t>
                      </a:r>
                      <a:r>
                        <a:rPr lang="ko-KR" altLang="en-US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그 목적에 성실히 이행할 것을 서약합니다</a:t>
                      </a:r>
                      <a:r>
                        <a:rPr lang="en-US" altLang="ko-KR" sz="12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48618"/>
                  </a:ext>
                </a:extLst>
              </a:tr>
              <a:tr h="180721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2315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574E9EE-CCFC-DC00-07F8-4401654C0BC8}"/>
              </a:ext>
            </a:extLst>
          </p:cNvPr>
          <p:cNvSpPr txBox="1"/>
          <p:nvPr/>
        </p:nvSpPr>
        <p:spPr>
          <a:xfrm>
            <a:off x="879088" y="4068067"/>
            <a:ext cx="50998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서  약  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5E991-AD26-69A8-281B-A7AE045F03E4}"/>
              </a:ext>
            </a:extLst>
          </p:cNvPr>
          <p:cNvSpPr txBox="1"/>
          <p:nvPr/>
        </p:nvSpPr>
        <p:spPr>
          <a:xfrm>
            <a:off x="2154044" y="5671356"/>
            <a:ext cx="254991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20OO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년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월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OO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376C8-F031-4D76-2FD7-B55E1AD92372}"/>
              </a:ext>
            </a:extLst>
          </p:cNvPr>
          <p:cNvSpPr txBox="1"/>
          <p:nvPr/>
        </p:nvSpPr>
        <p:spPr>
          <a:xfrm>
            <a:off x="3271644" y="6117399"/>
            <a:ext cx="2549912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개인회원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:            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성명             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(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인</a:t>
            </a:r>
            <a:r>
              <a:rPr lang="en-US" altLang="ko-KR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)</a:t>
            </a:r>
            <a:r>
              <a:rPr lang="ko-KR" altLang="en-US" sz="11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8EF94-864D-38C8-5D41-32F0257AA19B}"/>
              </a:ext>
            </a:extLst>
          </p:cNvPr>
          <p:cNvSpPr txBox="1"/>
          <p:nvPr/>
        </p:nvSpPr>
        <p:spPr>
          <a:xfrm>
            <a:off x="1036444" y="7312855"/>
            <a:ext cx="478511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전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국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대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학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생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투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자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동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아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리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연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합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회</a:t>
            </a:r>
            <a:r>
              <a:rPr lang="ko-KR" altLang="en-US" sz="1000" dirty="0"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dirty="0">
                <a:latin typeface="궁서" panose="02030600000101010101" pitchFamily="18" charset="-127"/>
                <a:ea typeface="궁서" panose="02030600000101010101" pitchFamily="18" charset="-127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673806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</TotalTime>
  <Words>206</Words>
  <Application>Microsoft Office PowerPoint</Application>
  <PresentationFormat>사용자 지정</PresentationFormat>
  <Paragraphs>51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궁서</vt:lpstr>
      <vt:lpstr>나눔스퀘어OTF_ac ExtraBold</vt:lpstr>
      <vt:lpstr>Calibri Light</vt:lpstr>
      <vt:lpstr>나눔스퀘어OTF_ac 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동원 이</dc:creator>
  <cp:lastModifiedBy>동원 이</cp:lastModifiedBy>
  <cp:revision>1</cp:revision>
  <dcterms:created xsi:type="dcterms:W3CDTF">2026-03-08T09:25:45Z</dcterms:created>
  <dcterms:modified xsi:type="dcterms:W3CDTF">2026-03-08T09:49:27Z</dcterms:modified>
</cp:coreProperties>
</file>