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5"/>
  </p:notesMasterIdLst>
  <p:sldIdLst>
    <p:sldId id="257" r:id="rId2"/>
    <p:sldId id="258" r:id="rId3"/>
    <p:sldId id="259" r:id="rId4"/>
  </p:sldIdLst>
  <p:sldSz cx="6858000" cy="8999538"/>
  <p:notesSz cx="6858000" cy="9144000"/>
  <p:embeddedFontLst>
    <p:embeddedFont>
      <p:font typeface="나눔스퀘어OTF_ac Bold" panose="020B0600000101010101" pitchFamily="34" charset="-127"/>
      <p:bold r:id="rId6"/>
    </p:embeddedFont>
    <p:embeddedFont>
      <p:font typeface="나눔스퀘어OTF_ac ExtraBold" panose="020B0600000101010101" pitchFamily="34" charset="-127"/>
      <p:bold r:id="rId7"/>
    </p:embeddedFont>
    <p:embeddedFont>
      <p:font typeface="맑은 고딕" panose="020B0503020000020004" pitchFamily="50" charset="-127"/>
      <p:regular r:id="rId8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0" d="100"/>
          <a:sy n="80" d="100"/>
        </p:scale>
        <p:origin x="24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C9754-BD9E-4BE9-92D6-EA1B2D8C3EC3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52663" y="1143000"/>
            <a:ext cx="2352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1027A-ED58-4B52-8E20-E93A5F087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027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8A430-3A14-447E-B8BC-3452FDBFE34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570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78AC-DA96-E418-8BC6-8CDCADDA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C0A8CF-66DC-E3EE-38A4-7002029A8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8195AC-BEE9-18A1-45C7-489B7336B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ABF9BB-2DAC-DD73-2183-85C0C0524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8A430-3A14-447E-B8BC-3452FDBFE34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970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DB50E-1634-AA90-AA16-23695870B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3CAF9A-DE52-E252-0000-35773DE55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9C7E8B-478B-3015-F315-D83506936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D0A5FA-1055-637F-96C5-E08436559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8A430-3A14-447E-B8BC-3452FDBFE34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089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72842"/>
            <a:ext cx="5829300" cy="313317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726842"/>
            <a:ext cx="5143500" cy="217280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423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424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43638"/>
            <a:ext cx="5915025" cy="374355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022610"/>
            <a:ext cx="5915025" cy="196864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38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395710"/>
            <a:ext cx="2914650" cy="571012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395710"/>
            <a:ext cx="2914650" cy="571012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247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79144"/>
            <a:ext cx="5915025" cy="17394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06137"/>
            <a:ext cx="2901255" cy="10811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287331"/>
            <a:ext cx="2901255" cy="483516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06137"/>
            <a:ext cx="2915543" cy="10811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287331"/>
            <a:ext cx="2915543" cy="483516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737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45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666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99969"/>
            <a:ext cx="2211884" cy="209989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295769"/>
            <a:ext cx="3471863" cy="639550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699862"/>
            <a:ext cx="2211884" cy="50018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12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99969"/>
            <a:ext cx="2211884" cy="209989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295769"/>
            <a:ext cx="3471863" cy="639550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699862"/>
            <a:ext cx="2211884" cy="50018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159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55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79142"/>
            <a:ext cx="1478756" cy="762669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79142"/>
            <a:ext cx="4350544" cy="762669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430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79144"/>
            <a:ext cx="5915025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395710"/>
            <a:ext cx="5915025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341240"/>
            <a:ext cx="154305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3EE09-BC31-4801-90BE-1E34E8C1AE39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341240"/>
            <a:ext cx="231457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341240"/>
            <a:ext cx="154305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54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AB57B9F-18E8-6B4E-913A-E877A1DA4030}"/>
              </a:ext>
            </a:extLst>
          </p:cNvPr>
          <p:cNvSpPr/>
          <p:nvPr/>
        </p:nvSpPr>
        <p:spPr>
          <a:xfrm>
            <a:off x="585439" y="532596"/>
            <a:ext cx="5687122" cy="793434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AAF78-586A-39BD-02DE-4F75BD17A9BF}"/>
              </a:ext>
            </a:extLst>
          </p:cNvPr>
          <p:cNvSpPr txBox="1"/>
          <p:nvPr/>
        </p:nvSpPr>
        <p:spPr>
          <a:xfrm>
            <a:off x="879088" y="2033199"/>
            <a:ext cx="5099824" cy="10310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8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전국 대학생 투자동아리 연합회</a:t>
            </a:r>
            <a:endParaRPr lang="en-US" altLang="ko-KR" sz="28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  <a:p>
            <a:pPr algn="ctr"/>
            <a:endParaRPr lang="en-US" altLang="ko-KR" sz="5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  <a:p>
            <a:pPr algn="ctr"/>
            <a:r>
              <a:rPr lang="ko-KR" altLang="en-US" sz="28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 </a:t>
            </a:r>
            <a:r>
              <a:rPr lang="en-US" altLang="ko-KR" sz="28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[UIC]</a:t>
            </a:r>
            <a:endParaRPr lang="ko-KR" altLang="en-US" sz="28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B0163-803D-1508-DB76-921A3280A6C8}"/>
              </a:ext>
            </a:extLst>
          </p:cNvPr>
          <p:cNvSpPr txBox="1"/>
          <p:nvPr/>
        </p:nvSpPr>
        <p:spPr>
          <a:xfrm>
            <a:off x="879088" y="4038103"/>
            <a:ext cx="50998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 </a:t>
            </a:r>
            <a:r>
              <a:rPr lang="ko-KR" altLang="en-US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연합세션 참가 </a:t>
            </a:r>
            <a:r>
              <a:rPr lang="ko-KR" altLang="en-US" sz="2400" dirty="0" err="1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신청서</a:t>
            </a:r>
            <a:r>
              <a:rPr lang="ko-KR" altLang="en-US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 </a:t>
            </a:r>
            <a:r>
              <a:rPr lang="en-US" altLang="ko-KR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</a:t>
            </a:r>
            <a:endParaRPr lang="ko-KR" altLang="en-US" sz="24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6AA1D8-F792-5636-74D0-9F4A0EF10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986" y="7908820"/>
            <a:ext cx="660131" cy="385177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26F125B-B563-19B5-3044-E9A3A5B15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710414"/>
              </p:ext>
            </p:extLst>
          </p:nvPr>
        </p:nvGraphicFramePr>
        <p:xfrm>
          <a:off x="1589513" y="5824873"/>
          <a:ext cx="367897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399">
                  <a:extLst>
                    <a:ext uri="{9D8B030D-6E8A-4147-A177-3AD203B41FA5}">
                      <a16:colId xmlns:a16="http://schemas.microsoft.com/office/drawing/2014/main" val="2782391600"/>
                    </a:ext>
                  </a:extLst>
                </a:gridCol>
                <a:gridCol w="2176575">
                  <a:extLst>
                    <a:ext uri="{9D8B030D-6E8A-4147-A177-3AD203B41FA5}">
                      <a16:colId xmlns:a16="http://schemas.microsoft.com/office/drawing/2014/main" val="254903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학회명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33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대표자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OOO</a:t>
                      </a:r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753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H.P</a:t>
                      </a:r>
                      <a:endParaRPr lang="ko-KR" altLang="en-US" sz="14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OOO-OOOO-OOOO</a:t>
                      </a:r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391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E-mail</a:t>
                      </a:r>
                      <a:endParaRPr lang="ko-KR" altLang="en-US" sz="14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064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476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AC9BC-7931-6E0A-A9E0-39E013A3E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0407A12-1575-45B4-4AF7-D420856991BD}"/>
              </a:ext>
            </a:extLst>
          </p:cNvPr>
          <p:cNvSpPr/>
          <p:nvPr/>
        </p:nvSpPr>
        <p:spPr>
          <a:xfrm>
            <a:off x="585439" y="532596"/>
            <a:ext cx="5687122" cy="793434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6BBD25A-3B4C-0035-EA37-457E4BAEB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987285"/>
              </p:ext>
            </p:extLst>
          </p:nvPr>
        </p:nvGraphicFramePr>
        <p:xfrm>
          <a:off x="585441" y="537676"/>
          <a:ext cx="5687120" cy="80183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7424">
                  <a:extLst>
                    <a:ext uri="{9D8B030D-6E8A-4147-A177-3AD203B41FA5}">
                      <a16:colId xmlns:a16="http://schemas.microsoft.com/office/drawing/2014/main" val="2078753959"/>
                    </a:ext>
                  </a:extLst>
                </a:gridCol>
                <a:gridCol w="728675">
                  <a:extLst>
                    <a:ext uri="{9D8B030D-6E8A-4147-A177-3AD203B41FA5}">
                      <a16:colId xmlns:a16="http://schemas.microsoft.com/office/drawing/2014/main" val="3732638107"/>
                    </a:ext>
                  </a:extLst>
                </a:gridCol>
                <a:gridCol w="1546173">
                  <a:extLst>
                    <a:ext uri="{9D8B030D-6E8A-4147-A177-3AD203B41FA5}">
                      <a16:colId xmlns:a16="http://schemas.microsoft.com/office/drawing/2014/main" val="2815640641"/>
                    </a:ext>
                  </a:extLst>
                </a:gridCol>
                <a:gridCol w="929013">
                  <a:extLst>
                    <a:ext uri="{9D8B030D-6E8A-4147-A177-3AD203B41FA5}">
                      <a16:colId xmlns:a16="http://schemas.microsoft.com/office/drawing/2014/main" val="2440996874"/>
                    </a:ext>
                  </a:extLst>
                </a:gridCol>
                <a:gridCol w="1345835">
                  <a:extLst>
                    <a:ext uri="{9D8B030D-6E8A-4147-A177-3AD203B41FA5}">
                      <a16:colId xmlns:a16="http://schemas.microsoft.com/office/drawing/2014/main" val="3211984523"/>
                    </a:ext>
                  </a:extLst>
                </a:gridCol>
              </a:tblGrid>
              <a:tr h="574540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_ac ExtraBold" panose="020B0600000101010101" pitchFamily="34" charset="-127"/>
                          <a:ea typeface="나눔스퀘어OTF_ac ExtraBold" panose="020B0600000101010101" pitchFamily="34" charset="-127"/>
                        </a:rPr>
                        <a:t>연합세션 참가 신청서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27852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&lt; 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로고 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&gt;</a:t>
                      </a:r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학회명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OO학회</a:t>
                      </a:r>
                      <a:endParaRPr lang="ko-KR" altLang="en-US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대표자 성명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OOO</a:t>
                      </a:r>
                      <a:endParaRPr lang="ko-KR" altLang="en-US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0286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소속대학</a:t>
                      </a:r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대학교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5305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세션 주제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리서치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/ 운용보고서 등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리포트 첨부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첨부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/ 미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첨부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2262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연락처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OOO-OOOO-OOOO</a:t>
                      </a:r>
                      <a:endParaRPr lang="ko-KR" altLang="en-US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E-mail</a:t>
                      </a:r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66587"/>
                  </a:ext>
                </a:extLst>
              </a:tr>
              <a:tr h="5874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희망 시기 및</a:t>
                      </a:r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 진행 기획</a:t>
                      </a:r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ctr" latinLnBrk="1"/>
                      <a:endParaRPr lang="en-US" altLang="ko-KR" sz="5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ctr" latinLnBrk="1"/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ctr" latinLnBrk="1"/>
                      <a:endParaRPr lang="en-US" altLang="ko-KR" sz="5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ctr" latinLnBrk="1"/>
                      <a:endParaRPr lang="en-US" altLang="ko-KR" sz="5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just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① 희망 시기 : </a:t>
                      </a:r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l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just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② 진행 방식 (발표 / 대회 / 세미나 등) : </a:t>
                      </a:r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l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just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③ 희망 참가 팀(동아리 및 학회) 수 : </a:t>
                      </a:r>
                    </a:p>
                    <a:p>
                      <a:pPr algn="just" latinLnBrk="1"/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just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④ 세부 진행 계획 :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674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17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24052-B9E3-A540-F521-73E1B1DA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>
            <a:extLst>
              <a:ext uri="{FF2B5EF4-FFF2-40B4-BE49-F238E27FC236}">
                <a16:creationId xmlns:a16="http://schemas.microsoft.com/office/drawing/2014/main" id="{7CC918C1-5A96-2E73-5585-200FBD8DA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198" y="7178472"/>
            <a:ext cx="763875" cy="68042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9920C05-2932-2D06-4B26-33A4E43E3C5B}"/>
              </a:ext>
            </a:extLst>
          </p:cNvPr>
          <p:cNvSpPr/>
          <p:nvPr/>
        </p:nvSpPr>
        <p:spPr>
          <a:xfrm>
            <a:off x="585439" y="532596"/>
            <a:ext cx="5687122" cy="793434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83FF389-7D2E-C14D-B780-8EFFD0729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988482"/>
              </p:ext>
            </p:extLst>
          </p:nvPr>
        </p:nvGraphicFramePr>
        <p:xfrm>
          <a:off x="585441" y="532596"/>
          <a:ext cx="5687120" cy="79357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7120">
                  <a:extLst>
                    <a:ext uri="{9D8B030D-6E8A-4147-A177-3AD203B41FA5}">
                      <a16:colId xmlns:a16="http://schemas.microsoft.com/office/drawing/2014/main" val="3818624655"/>
                    </a:ext>
                  </a:extLst>
                </a:gridCol>
              </a:tblGrid>
              <a:tr h="5850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_ac ExtraBold" panose="020B0600000101010101" pitchFamily="34" charset="-127"/>
                          <a:ea typeface="나눔스퀘어OTF_ac ExtraBold" panose="020B0600000101010101" pitchFamily="34" charset="-127"/>
                        </a:rPr>
                        <a:t>안 내 사 항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648418"/>
                  </a:ext>
                </a:extLst>
              </a:tr>
              <a:tr h="2496820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연합세션은 UIC에 가입된 동아리·학회 간 리서치, 운용보고서 등 활동을 교류하고 네트워킹할 수 있는 자리이다.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UIC는 접수된 참가 신청서를 바탕으로 회장단 간 직접 중개를 진행한다.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참여 학회는 </a:t>
                      </a:r>
                      <a:r>
                        <a:rPr lang="ko-KR" altLang="en-US" sz="1100" b="1" u="sng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반드시 리포트</a:t>
                      </a:r>
                      <a:r>
                        <a:rPr lang="ko-KR" altLang="en-US" sz="1100" b="1" u="none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를</a:t>
                      </a:r>
                      <a:r>
                        <a:rPr lang="ko-KR" altLang="en-US" sz="1100" b="1" u="sng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첨부하여 참가 신청서와 함께 UIC 측에 제출해야 한다.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희망 시기는 각 동아리·학회의 일정을 최대한 고려하여 조율된다.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marR="0" lvl="0" indent="-22860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위 참가 신청서의 허위 기재 적발 시 신청이 취소될 수 있다.</a:t>
                      </a:r>
                    </a:p>
                    <a:p>
                      <a:pPr marL="0" indent="0" algn="l" latinLnBrk="1">
                        <a:buNone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369935"/>
                  </a:ext>
                </a:extLst>
              </a:tr>
              <a:tr h="30467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본 신청서를 제출하는 동아리·학회는 위 기재사항이 사실임을 확인하며,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UIC 연합세션의 취지에 따라 성실히 참여할 것을 서약합니다.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448618"/>
                  </a:ext>
                </a:extLst>
              </a:tr>
              <a:tr h="180721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92315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574E9EE-CCFC-DC00-07F8-4401654C0BC8}"/>
              </a:ext>
            </a:extLst>
          </p:cNvPr>
          <p:cNvSpPr txBox="1"/>
          <p:nvPr/>
        </p:nvSpPr>
        <p:spPr>
          <a:xfrm>
            <a:off x="879088" y="4068067"/>
            <a:ext cx="509982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서  약  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C5E991-AD26-69A8-281B-A7AE045F03E4}"/>
              </a:ext>
            </a:extLst>
          </p:cNvPr>
          <p:cNvSpPr txBox="1"/>
          <p:nvPr/>
        </p:nvSpPr>
        <p:spPr>
          <a:xfrm>
            <a:off x="2154044" y="5671356"/>
            <a:ext cx="254991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20OO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년  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OO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월  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OO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376C8-F031-4D76-2FD7-B55E1AD92372}"/>
              </a:ext>
            </a:extLst>
          </p:cNvPr>
          <p:cNvSpPr txBox="1"/>
          <p:nvPr/>
        </p:nvSpPr>
        <p:spPr>
          <a:xfrm>
            <a:off x="3271644" y="6117399"/>
            <a:ext cx="254991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신청 동아리·학회 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:            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대표자             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(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인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)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B8EF94-864D-38C8-5D41-32F0257AA19B}"/>
              </a:ext>
            </a:extLst>
          </p:cNvPr>
          <p:cNvSpPr txBox="1"/>
          <p:nvPr/>
        </p:nvSpPr>
        <p:spPr>
          <a:xfrm>
            <a:off x="1036444" y="7312855"/>
            <a:ext cx="478511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전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국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대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학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생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투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자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동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아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리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연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합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회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장</a:t>
            </a:r>
          </a:p>
        </p:txBody>
      </p:sp>
    </p:spTree>
    <p:extLst>
      <p:ext uri="{BB962C8B-B14F-4D97-AF65-F5344CB8AC3E}">
        <p14:creationId xmlns:p14="http://schemas.microsoft.com/office/powerpoint/2010/main" val="673806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</TotalTime>
  <Words>217</Words>
  <Application>Microsoft Office PowerPoint</Application>
  <PresentationFormat>사용자 지정</PresentationFormat>
  <Paragraphs>61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나눔스퀘어OTF_ac Bold</vt:lpstr>
      <vt:lpstr>나눔스퀘어OTF_ac ExtraBold</vt:lpstr>
      <vt:lpstr>Calibri</vt:lpstr>
      <vt:lpstr>Arial</vt:lpstr>
      <vt:lpstr>맑은 고딕</vt:lpstr>
      <vt:lpstr>Calibri Light</vt:lpstr>
      <vt:lpstr>궁서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동원 이</dc:creator>
  <cp:lastModifiedBy>황민성</cp:lastModifiedBy>
  <cp:revision>2</cp:revision>
  <dcterms:created xsi:type="dcterms:W3CDTF">2026-03-08T09:25:45Z</dcterms:created>
  <dcterms:modified xsi:type="dcterms:W3CDTF">2026-08-16T14:06:49Z</dcterms:modified>
</cp:coreProperties>
</file>